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554480"/>
            <a:ext cx="3108960" cy="3108960"/>
          </a:xfrm>
          <a:prstGeom prst="ellipse">
            <a:avLst/>
          </a:prstGeom>
          <a:noFill/>
          <a:ln w="19050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64040" y="2148840"/>
            <a:ext cx="1920240" cy="1920240"/>
          </a:xfrm>
          <a:prstGeom prst="ellipse">
            <a:avLst/>
          </a:prstGeom>
          <a:noFill/>
          <a:ln w="19050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2651760"/>
            <a:ext cx="1051560" cy="1051560"/>
          </a:xfrm>
          <a:prstGeom prst="ellipse">
            <a:avLst/>
          </a:prstGeom>
          <a:noFill/>
          <a:ln w="19050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95527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5F5F7"/>
                </a:solidFill>
                <a:latin typeface="Arial"/>
              </a:rPr>
              <a:t>FIBONACCI CONTROL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D9AE5A"/>
                </a:solidFill>
                <a:latin typeface="Arial"/>
              </a:rPr>
              <a:t>Облачная CRM с ИИ-сотрудником и WhatsApp</a:t>
            </a:r>
          </a:p>
          <a:p>
            <a:pPr algn="l">
              <a:spcAft>
                <a:spcPts val="1600"/>
              </a:spcAft>
            </a:pPr>
            <a:r>
              <a:rPr sz="2200" b="1">
                <a:solidFill>
                  <a:srgbClr val="D9AE5A"/>
                </a:solidFill>
                <a:latin typeface="Arial"/>
              </a:rPr>
              <a:t>для торговых компаний Казахстана и СНГ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4B2"/>
                </a:solidFill>
                <a:latin typeface="Arial"/>
              </a:rPr>
              <a:t>ИИ, который реально делает работу · WhatsApp без доплат · мультикомпания из коробки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Sariyev IT Solutions · Астана · fibonaccicontrol.com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Торговля тонет в лоскутном одеяле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257800" cy="17373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CRM отдельно от WhatsApp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Переписка с клиентом — в личном телефоне менеджера. Уходит вместе с ним.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74519"/>
            <a:ext cx="5257800" cy="17373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Каждый инструмент — за деньги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WhatsApp через WABA +36 000 ₸/мес, ИИ и «маркет» — сверху.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79"/>
            <a:ext cx="5257800" cy="17373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Каталог и склад в Excel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Товар ищут вручную, остатки не сходятся, КП собирают по ночам.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840479"/>
            <a:ext cx="5257800" cy="17373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Холдинг = хаос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Несколько юрлиц ведут в разных таблицах и разных системах.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Одна система вместо десяти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5F5F7"/>
                </a:solidFill>
                <a:latin typeface="Arial"/>
              </a:rPr>
              <a:t>Fibonacci Control объединяет в одном окне то, за что обычно платят по частям: продажи, каталог, WhatsApp, склад, финансы, тендеры, аналитику и ИИ.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9AA4B2"/>
                </a:solidFill>
                <a:latin typeface="Arial"/>
              </a:rPr>
              <a:t>Система не требует полугода «настройки бизнес-процессов» — она уже собрана под реальную торговлю и разворачивается под клиента под ключ.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3474720" cy="10058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7"/>
                </a:solidFill>
                <a:latin typeface="Arial"/>
              </a:rPr>
              <a:t>Продажи и КП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840480"/>
            <a:ext cx="3474720" cy="10058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7"/>
                </a:solidFill>
                <a:latin typeface="Arial"/>
              </a:rPr>
              <a:t>WhatsApp в CRM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840480"/>
            <a:ext cx="3474720" cy="10058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7"/>
                </a:solidFill>
                <a:latin typeface="Arial"/>
              </a:rPr>
              <a:t>Каталог 30 000+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3474720" cy="10058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7"/>
                </a:solidFill>
                <a:latin typeface="Arial"/>
              </a:rPr>
              <a:t>Склад и отгрузки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5029200"/>
            <a:ext cx="3474720" cy="10058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7"/>
                </a:solidFill>
                <a:latin typeface="Arial"/>
              </a:rPr>
              <a:t>ИИ-сотрудник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5029200"/>
            <a:ext cx="3474720" cy="10058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5F7"/>
                </a:solidFill>
                <a:latin typeface="Arial"/>
              </a:rPr>
              <a:t>Мультикомпания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ГЛАВНЫЙ ДИФФЕРЕНЦИАТОР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ИИ-сотрудник «Жан»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F5F5F7"/>
                </a:solidFill>
                <a:latin typeface="Arial"/>
              </a:rPr>
              <a:t>Не чат-бот «для галочки», а ассистент с 30+ инструментами, который выполняет реальную работу на данных вашей компании: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•  Собирает коммерческие предложения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•  Находит товар в каталоге на 30 000+ позиций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•  Отвечает клиенту в WhatsApp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•  Ставит задачи и напоминания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•  Считает остатки и суммы сделок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•  Работает голосом и текстом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874519"/>
            <a:ext cx="4297680" cy="3977639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Почему это важно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Конкуренты продают «чат-бота», который пишет «здравствуйте».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«Жан» снимает с менеджеров рутину и ускоряет каждую сделку.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Это не обещание из будущего — работает в проде каждый день.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ЧТО ВНУТРИ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Модули под всю торговлю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474720" cy="12344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Сделки и воронка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канбан, этапы, КП, согласования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874519"/>
            <a:ext cx="3474720" cy="12344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Клиенты и лиды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единая база, источники, атрибуция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874519"/>
            <a:ext cx="3474720" cy="12344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Каталог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тысячи товаров с фото и ценами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91839"/>
            <a:ext cx="3474720" cy="12344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WhatsApp / мессенджеры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переписка с номера менеджера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291839"/>
            <a:ext cx="3474720" cy="12344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Склад и отгрузки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остатки, инвентаризация, выдача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291839"/>
            <a:ext cx="3474720" cy="12344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Финансы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счета, оплаты, дебиторка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09160"/>
            <a:ext cx="3474720" cy="12344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Тендеры КЗ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лоты с 4 порталов, спецификация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4709160"/>
            <a:ext cx="3474720" cy="12344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Аналитика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выручка, воронка, KPI, прогноз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709160"/>
            <a:ext cx="3474720" cy="123444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Команда и GPS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роли, доступы, смены выездных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ЧЕМ ОТЛИЧАЕМСЯ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Не как Битрикс24 и amoCRM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ИИ реально делает работу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а не имитирует диалог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74519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WhatsApp без WABA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с номера менеджера, без +36 000 ₸/мес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Мультикомпания из коробки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несколько юрлиц, раздельный доступ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246120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Готовность под торговлю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каталог, склад, тендеры уже есть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17720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Честная цена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«Бизнес» 49к = то, за что берут 80к+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617720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Построено бизнесом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из боевой CRM, а не студией «на заказ»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ДОВЕРИЕ И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Уже в продакшене, а не в слайдах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474720" cy="15087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/>
            </a:r>
            <a:r>
              <a:rPr sz="3000" b="1">
                <a:solidFill>
                  <a:srgbClr val="D9AE5A"/>
                </a:solidFill>
                <a:latin typeface="Arial"/>
              </a:rPr>
              <a:t>30 000+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товаров с фото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965960"/>
            <a:ext cx="3474720" cy="15087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/>
            </a:r>
            <a:r>
              <a:rPr sz="3000" b="1">
                <a:solidFill>
                  <a:srgbClr val="D9AE5A"/>
                </a:solidFill>
                <a:latin typeface="Arial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бренда холдинга каждый день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65960"/>
            <a:ext cx="3474720" cy="15087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/>
            </a:r>
            <a:r>
              <a:rPr sz="3000" b="1">
                <a:solidFill>
                  <a:srgbClr val="D9AE5A"/>
                </a:solidFill>
                <a:latin typeface="Arial"/>
              </a:rPr>
              <a:t>41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экран, 45 серверных функций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03320"/>
            <a:ext cx="3474720" cy="15087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/>
            </a:r>
            <a:r>
              <a:rPr sz="3000" b="1">
                <a:solidFill>
                  <a:srgbClr val="D9AE5A"/>
                </a:solidFill>
                <a:latin typeface="Arial"/>
              </a:rPr>
              <a:t>2026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в проде с этого года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703320"/>
            <a:ext cx="3474720" cy="15087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/>
            </a:r>
            <a:r>
              <a:rPr sz="3000" b="1">
                <a:solidFill>
                  <a:srgbClr val="D9AE5A"/>
                </a:solidFill>
                <a:latin typeface="Arial"/>
              </a:rPr>
              <a:t>3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языка интерфейса: рус/каз/eng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3703320"/>
            <a:ext cx="3474720" cy="15087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/>
            </a:r>
            <a:r>
              <a:rPr sz="3000" b="1">
                <a:solidFill>
                  <a:srgbClr val="D9AE5A"/>
                </a:solidFill>
                <a:latin typeface="Arial"/>
              </a:rPr>
              <a:t>2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раунда security-аудита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5F5F7"/>
                </a:solidFill>
                <a:latin typeface="Arial"/>
              </a:rPr>
              <a:t>Продукт вырос из боевой CRM реального торгового холдинга (PRO CERAMIC · ADELE · TEMIR SAPA, Астана).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РЫНОК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Для кого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Торговые компании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стройматериалы, сантехника, мебель, металлоконструкции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74519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Мультибренд-холдинги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несколько юрлиц под одной крышей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Участники госзакупок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тендерный модуль, 4 портала Казахстана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246120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Компании с доставкой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GPS-смены для выездных сотрудников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617720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Компании с физточками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камеры прямо в 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617720"/>
            <a:ext cx="5257800" cy="118872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Рынок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4B2"/>
                </a:solidFill>
                <a:latin typeface="Arial"/>
              </a:rPr>
              <a:t>Казахстан сначала, далее СНГ и мир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БИЗНЕС-МОДЕЛЬ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Тарифы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474720" cy="35661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56032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5F5F7"/>
                </a:solidFill>
                <a:latin typeface="Arial"/>
              </a:rPr>
              <a:t>СТАРТ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5F5F7"/>
                </a:solidFill>
                <a:latin typeface="Arial"/>
              </a:rPr>
              <a:t>от 19 000 ₸/мес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•  CRM и воронка сделок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•  Каталог товаров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•  WhatsApp в CRM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920240"/>
            <a:ext cx="3474720" cy="3566160"/>
          </a:xfrm>
          <a:prstGeom prst="roundRect">
            <a:avLst/>
          </a:prstGeom>
          <a:solidFill>
            <a:srgbClr val="111828"/>
          </a:solidFill>
          <a:ln w="25400">
            <a:solidFill>
              <a:srgbClr val="D9A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56032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D9AE5A"/>
                </a:solidFill>
                <a:latin typeface="Arial"/>
              </a:rPr>
              <a:t>БИЗНЕС ⭐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5F5F7"/>
                </a:solidFill>
                <a:latin typeface="Arial"/>
              </a:rPr>
              <a:t>от 49 000 ₸/мес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•  Всё из «Старт»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•  ИИ-сотрудник «Жан»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•  Таргет-реклама и аналитика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20240"/>
            <a:ext cx="3474720" cy="356616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56032"/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F5F5F7"/>
                </a:solidFill>
                <a:latin typeface="Arial"/>
              </a:rPr>
              <a:t>ХОЛДИНГ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5F5F7"/>
                </a:solidFill>
                <a:latin typeface="Arial"/>
              </a:rPr>
              <a:t>от 99 000 ₸/мес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•  Всё из «Бизнес»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•  Мультикомпания, камеры, GPS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•  Тендеры и госзакупки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Дешевле конкурентов на входе, богаче по ценности. Внедрение «под ключ» — отдельно (150–400 тыс. ₸).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Надёжный современный стек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React + TypeScript · Supabase (Postgres, RLS, Realtime) · серверные edge-функции · ИИ на базе Claude с автофолбэком · распознавание голоса и генерация изображений · хостинг Vercel.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4B2"/>
                </a:solidFill>
                <a:latin typeface="Arial"/>
              </a:rPr>
              <a:t>Мультикомпания и безопасность данных — на уровне базы (Row-Level Security).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2606040" cy="91440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WhatsApp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3703320"/>
            <a:ext cx="2606040" cy="91440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Instagram / Facebook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703320"/>
            <a:ext cx="2606040" cy="91440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Meta 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3703320"/>
            <a:ext cx="2606040" cy="91440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Telegram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00600"/>
            <a:ext cx="2606040" cy="91440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1С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79" y="4800600"/>
            <a:ext cx="2606040" cy="91440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Госзакупки КЗ (4 портала)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800600"/>
            <a:ext cx="2606040" cy="91440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Камеры (RTSP)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19" y="4800600"/>
            <a:ext cx="2606040" cy="914400"/>
          </a:xfrm>
          <a:prstGeom prst="roundRect">
            <a:avLst/>
          </a:prstGeom>
          <a:solidFill>
            <a:srgbClr val="111828"/>
          </a:solidFill>
          <a:ln w="12700">
            <a:solidFill>
              <a:srgbClr val="252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46304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AE5A"/>
                </a:solidFill>
                <a:latin typeface="Arial"/>
              </a:rPr>
              <a:t>Kaspi-рынок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D9AE5A"/>
                </a:solidFill>
                <a:latin typeface="Arial"/>
              </a:rPr>
              <a:t>СТАТУС И КОНТАКТЫ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5F5F7"/>
                </a:solidFill>
                <a:latin typeface="Arial"/>
              </a:rPr>
              <a:t>Готово к масштабированию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051560" cy="54864"/>
          </a:xfrm>
          <a:prstGeom prst="rect">
            <a:avLst/>
          </a:prstGeom>
          <a:solidFill>
            <a:srgbClr val="D9A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•  Ядро работает в продакшене, интерфейс полностью трёхъязычный (RU/KK/EN).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•  Запущены лендинг fibonaccicontrol.com и приложение app.fibonaccicontrol.com.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•  Идёт превращение в мультитенантный SaaS: онбординг, биллинг подписок, тарифы.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D9AE5A"/>
                </a:solidFill>
                <a:latin typeface="Arial"/>
              </a:rPr>
              <a:t>Fibonacci Control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F5F5F7"/>
                </a:solidFill>
                <a:latin typeface="Arial"/>
              </a:rPr>
              <a:t>Sariyev IT Solutions · Астана, Казахстан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4B2"/>
                </a:solidFill>
                <a:latin typeface="Arial"/>
              </a:rPr>
              <a:t>fibonaccicontrol.com · app.fibonaccicontrol.com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